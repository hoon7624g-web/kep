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0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부정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 적합도</c:v>
                  </c:pt>
                  <c:pt idx="2">
                    <c:v>비용·결제·가성비</c:v>
                  </c:pt>
                  <c:pt idx="3">
                    <c:v>상담·온보딩 명확성</c:v>
                  </c:pt>
                  <c:pt idx="4">
                    <c:v>학습관리·진도 피드백</c:v>
                  </c:pt>
                  <c:pt idx="5">
                    <c:v>학부모 커뮤니케이션</c:v>
                  </c:pt>
                  <c:pt idx="6">
                    <c:v>운영 응대·이슈 해결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12</c:v>
                </c:pt>
                <c:pt idx="2">
                  <c:v>15</c:v>
                </c:pt>
                <c:pt idx="3">
                  <c:v>18</c:v>
                </c:pt>
                <c:pt idx="4">
                  <c:v>22</c:v>
                </c:pt>
                <c:pt idx="5">
                  <c:v>25</c:v>
                </c:pt>
                <c:pt idx="6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중립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 적합도</c:v>
                  </c:pt>
                  <c:pt idx="2">
                    <c:v>비용·결제·가성비</c:v>
                  </c:pt>
                  <c:pt idx="3">
                    <c:v>상담·온보딩 명확성</c:v>
                  </c:pt>
                  <c:pt idx="4">
                    <c:v>학습관리·진도 피드백</c:v>
                  </c:pt>
                  <c:pt idx="5">
                    <c:v>학부모 커뮤니케이션</c:v>
                  </c:pt>
                  <c:pt idx="6">
                    <c:v>운영 응대·이슈 해결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</c:v>
                </c:pt>
                <c:pt idx="1">
                  <c:v>23</c:v>
                </c:pt>
                <c:pt idx="2">
                  <c:v>50</c:v>
                </c:pt>
                <c:pt idx="3">
                  <c:v>32</c:v>
                </c:pt>
                <c:pt idx="4">
                  <c:v>38</c:v>
                </c:pt>
                <c:pt idx="5">
                  <c:v>35</c:v>
                </c:pt>
                <c:pt idx="6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긍정</c:v>
                </c:pt>
              </c:strCache>
            </c:strRef>
          </c:tx>
          <c:spPr>
            <a:solidFill>
              <a:srgbClr val="5C8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 적합도</c:v>
                  </c:pt>
                  <c:pt idx="2">
                    <c:v>비용·결제·가성비</c:v>
                  </c:pt>
                  <c:pt idx="3">
                    <c:v>상담·온보딩 명확성</c:v>
                  </c:pt>
                  <c:pt idx="4">
                    <c:v>학습관리·진도 피드백</c:v>
                  </c:pt>
                  <c:pt idx="5">
                    <c:v>학부모 커뮤니케이션</c:v>
                  </c:pt>
                  <c:pt idx="6">
                    <c:v>운영 응대·이슈 해결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70</c:v>
                </c:pt>
                <c:pt idx="1">
                  <c:v>65</c:v>
                </c:pt>
                <c:pt idx="2">
                  <c:v>35</c:v>
                </c:pt>
                <c:pt idx="3">
                  <c:v>50</c:v>
                </c:pt>
                <c:pt idx="4">
                  <c:v>40</c:v>
                </c:pt>
                <c:pt idx="5">
                  <c:v>40</c:v>
                </c:pt>
                <c:pt idx="6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192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B1929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재구매 의향</c:v>
                </c:pt>
              </c:strCache>
            </c:strRef>
          </c:tx>
          <c:spPr>
            <a:solidFill>
              <a:srgbClr val="5C8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</c:v>
                  </c:pt>
                  <c:pt idx="2">
                    <c:v>비용·결제</c:v>
                  </c:pt>
                  <c:pt idx="3">
                    <c:v>상담·온보딩</c:v>
                  </c:pt>
                  <c:pt idx="4">
                    <c:v>학습관리·피드백</c:v>
                  </c:pt>
                  <c:pt idx="5">
                    <c:v>학부모 커뮤니</c:v>
                  </c:pt>
                  <c:pt idx="6">
                    <c:v>운영 응대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6</c:v>
                </c:pt>
                <c:pt idx="2">
                  <c:v>10</c:v>
                </c:pt>
                <c:pt idx="3">
                  <c:v>12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중립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</c:v>
                  </c:pt>
                  <c:pt idx="2">
                    <c:v>비용·결제</c:v>
                  </c:pt>
                  <c:pt idx="3">
                    <c:v>상담·온보딩</c:v>
                  </c:pt>
                  <c:pt idx="4">
                    <c:v>학습관리·피드백</c:v>
                  </c:pt>
                  <c:pt idx="5">
                    <c:v>학부모 커뮤니</c:v>
                  </c:pt>
                  <c:pt idx="6">
                    <c:v>운영 응대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18</c:v>
                </c:pt>
                <c:pt idx="4">
                  <c:v>22</c:v>
                </c:pt>
                <c:pt idx="5">
                  <c:v>25</c:v>
                </c:pt>
                <c:pt idx="6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이탈 의향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</c:v>
                  </c:pt>
                  <c:pt idx="2">
                    <c:v>비용·결제</c:v>
                  </c:pt>
                  <c:pt idx="3">
                    <c:v>상담·온보딩</c:v>
                  </c:pt>
                  <c:pt idx="4">
                    <c:v>학습관리·피드백</c:v>
                  </c:pt>
                  <c:pt idx="5">
                    <c:v>학부모 커뮤니</c:v>
                  </c:pt>
                  <c:pt idx="6">
                    <c:v>운영 응대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22</c:v>
                </c:pt>
                <c:pt idx="3">
                  <c:v>26</c:v>
                </c:pt>
                <c:pt idx="4">
                  <c:v>38</c:v>
                </c:pt>
                <c:pt idx="5">
                  <c:v>48</c:v>
                </c:pt>
                <c:pt idx="6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800" b="0" i="0" u="none" strike="noStrike">
                <a:solidFill>
                  <a:srgbClr val="0B192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94A3B8"/>
                    </a:solidFill>
                    <a:latin typeface="Pretendard"/>
                  </a:defRPr>
                </a:pPr>
                <a:r>
                  <a:rPr sz="800" b="0" i="0" u="none" strike="noStrike">
                    <a:solidFill>
                      <a:srgbClr val="94A3B8"/>
                    </a:solidFill>
                    <a:latin typeface="Pretendard"/>
                  </a:rPr>
                  <a:t>카테고리별 부정 후기 비율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0B1929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 FOR KOREA EDUCATION PARTNERS APPLICATION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대치동 입시 상담 4년의 운영 경험을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기반 학생 맞춤 교육 운영으로 확장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548640" cy="0"/>
          </a:xfrm>
          <a:prstGeom prst="line">
            <a:avLst/>
          </a:prstGeom>
          <a:noFill/>
          <a:ln w="25400">
            <a:solidFill>
              <a:srgbClr val="A05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점수 중심 의사결정의 한계를 4년간 가까이에서 보았기에, 학생 맞춤 진로교육으로의 전환에 공감합니다.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대치동 입시 상담 4년 · 학생/학부모 100+/시즌 · 상담 기록·후속 조치 시트 운용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한국교육파트너스 교육 운영 매니저 지원 자료로, 상담·운영 경험 + AI 운영 워크플로 + 운영 맥락 적용 가설을 3장에 담았습니다.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직무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한국교육파트너스 교육 운영 매니저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작성일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한국교육파트너스 교육 운영 매니저 지원 · 윤상훈 · 2026.04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·  AI WORKFLOW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구축한 AI 워크플로 2개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Claude·GPT 계열 LLM과 Electron 자동화 파이프라인을 결합해 콘텐츠·운영 워크플로를 직접 설계·구현한 경험입니다.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576" cy="2606040"/>
          </a:xfrm>
          <a:prstGeom prst="rect">
            <a:avLst/>
          </a:prstGeom>
          <a:solidFill>
            <a:srgbClr val="A052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유튜브도사 v3.7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클라이언트 납품용으로 운영 환경에서 작동하도록 설계한 Electron 기반 multi-LLM 파이프라인. 긴 영상에서 반복 발생하는 요약·구간 선별·초안 작성 업무를 단일 도구로 구조화 (자막 추출 → LLM 핵심 구간 식별 → 숏폼 대본·카드뉴스 초안). NDA로 결과물 외부 공개는 제한되며, 면접 시 워크플로 구조 중심으로 설명 가능.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1920240"/>
            <a:ext cx="36576" cy="2606040"/>
          </a:xfrm>
          <a:prstGeom prst="rect">
            <a:avLst/>
          </a:prstGeom>
          <a:solidFill>
            <a:srgbClr val="A0522D"/>
          </a:solidFill>
          <a:ln/>
        </p:spPr>
      </p:sp>
      <p:sp>
        <p:nvSpPr>
          <p:cNvPr id="11" name="Text 9"/>
          <p:cNvSpPr/>
          <p:nvPr/>
        </p:nvSpPr>
        <p:spPr>
          <a:xfrm>
            <a:off x="340614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06140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타임투쇼츠 v0.1.3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6140" y="29718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 수집부터 기획안 생성까지 반복 기획 시간을 줄이는 6단계 파이프라인 (Trends → Script → TTS → Video → Upload → Results). Electron + Apify 크롤러 + LLM 가공으로 구성. 콘텐츠 제작자의 반복 업무를 구조화한 운영 도구.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920240"/>
            <a:ext cx="36576" cy="2606040"/>
          </a:xfrm>
          <a:prstGeom prst="rect">
            <a:avLst/>
          </a:prstGeom>
          <a:solidFill>
            <a:srgbClr val="A0522D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설계 원칙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9718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도구 모두 LLM을 단순 호출하는 게 아니라, 실제 운영 환경의 반복 업무를 분해해 단계별로 자동화·검수 단계를 끼워 넣은 워크플로. AI를 만드는 사람이 아니라, AI를 도구로 쓰는 운영자의 관점에서 설계했습니다.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한국교육파트너스 교육 운영 매니저 지원 · 윤상훈 · 2026.04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·  SAMPLE SETUP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시나리오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 중고등학생·유학생과 학부모를 대상으로 한 가상 운영 환경을 설정했습니다.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3657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4663440" y="1828800"/>
            <a:ext cx="4023360" cy="3657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설정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데이터 (가상)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유형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비대면 1:1 튜터링 (가상)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78892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학생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 중고등학생 + 유학생 (가상)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29184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규모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74520" y="3337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학생 약 300명 가정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79476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형태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2회·회당 50분 화상 튜터링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429768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343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목표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74520" y="4343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카테고리화 + 재구매·이탈 패턴 도출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표본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100건 (가상 생성)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78892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2025.10 ~ 2026.03 (6개월)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29184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분포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3337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만족도 설문 50건 / 학부모 1:1 콜 30건 / 재등록 인터뷰 20건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79476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 보조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기반 1차 분류 · 수동 검증 병행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429768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343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방법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80760" y="4343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무작위 20건 수동 라벨링 · 일치율 측정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팀업그레이드코리아 운영팀 지원 자료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·  METHODOLOGY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분석 4단계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정의 → 1차 분류 → 수동 검증 → 재구매·이탈 패턴 분석의 4단계 구조입니다.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정의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학생·학부모 응대 사이클에 기반해 7개 카테고리 사전 정의 (대치동 4년 운용 경험에서 도출)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217627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79192" y="21031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267919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33472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보조 1차 분류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33472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1건씩 분류 기준에 따라 카테고리 + 만족도(부정/중립/긍정) + outcome label(재구매/이탈 의향) 초안 생성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99432" y="217627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9744" y="21031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64024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검증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4024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무작위 20건 수동 라벨링 후 1차 분류 결과와 일치율 측정 (목표 85%+)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29984" y="217627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0296" y="21031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4029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94576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 분석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94576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부정 비율 + outcome label 교차 분석으로 재구매·이탈 분기점 도출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본 샘플 결과  ·  </a:t>
            </a:r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1차 분류와 수동 라벨링 일치율 87%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(카테고리 84% / 만족도 90%, 20건 수동 검증 · 가상 데이터)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팀업그레이드코리아 운영팀 지원 자료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·  CLASSIFICATION RESULT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7개 카테고리 × 만족도 분포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100건 분류 결과 (가상 데이터). 부정 비율은 운영 응대(30%) &gt; 학부모 커뮤니케이션(25%) &gt; 학습관리(22%) 순으로 큽니다.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2880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1264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관찰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2103120"/>
            <a:ext cx="256032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22402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2240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응대·이슈 해결이 가장 큰 부정 영역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0" y="2496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 30% · 시차 대응 구조 점검 필요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26480" y="2834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학부모 커뮤니케이션도 부정 25%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0" y="3090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시차·채널 운영 방식과 연결될 가능성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26480" y="34290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품질은 만족도 70%로 강점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0" y="3685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튜터 매칭 핵심 가치 작동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126480" y="40233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0080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비용·결제는 중립이 50%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0" y="4279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가성비 인식 모호 · 잠재 리스크</a:t>
            </a:r>
            <a:endParaRPr lang="en-US" sz="850" dirty="0"/>
          </a:p>
        </p:txBody>
      </p:sp>
      <p:sp>
        <p:nvSpPr>
          <p:cNvPr id="23" name="Multi Label Note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VOC 1건이 복수 카테고리에 걸칠 수 있는 다중 라벨링 기준입니다. 카테고리별 언급 수 합계는 전체 VOC 100건을 초과할 수 있습니다.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팀업그레이드코리아 운영팀 지원 자료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·  INSIGHT 01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 후기의 핵심은 "운영 응대 지연"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응대 부정 30건의 키워드를 다시 분석하면, 4개 클러스터로 수렴합니다.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 후기 30건 키워드 분포 (가상 빈도)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지연 (24시간+)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2377440"/>
            <a:ext cx="2011680" cy="1645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2788920" y="2377440"/>
            <a:ext cx="2011680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3317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243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문의했는데 다음날 답이 와요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시차 구간 응대 공백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88920" y="2971800"/>
            <a:ext cx="2011680" cy="1645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0" y="2971800"/>
            <a:ext cx="1508760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29260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186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 시간 기준으로 답변을 기다리는 시간이 길게 느껴져요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해결 다중 핸드오프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8920" y="3566160"/>
            <a:ext cx="2011680" cy="1645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2788920" y="3566160"/>
            <a:ext cx="1005840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3520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130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담당자가 계속 바뀌어서 처음부터 다시 설명해야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부재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88920" y="4160520"/>
            <a:ext cx="2011680" cy="1645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Shape 22"/>
          <p:cNvSpPr/>
          <p:nvPr/>
        </p:nvSpPr>
        <p:spPr>
          <a:xfrm>
            <a:off x="2788920" y="4160520"/>
            <a:ext cx="502920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4114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074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늦어지는지 설명이 없어요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60720" y="1920240"/>
            <a:ext cx="36576" cy="2606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VOC (가상)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228600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“수업 일정 변경 문의를 남겼는데 다음날 오후에 답장 와요. 미국 시간 기준으로는 거의 이틀이 걸린 셈이에요. 시차 때문이라는 건 알지만, 학부모 입장에선 우리 아이 수업이 멈춘 시간이 길게 느껴집니다.”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학부모 1:1 콜 인터뷰 · 30대 후반 학부모 (가상)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팀업그레이드코리아 운영팀 지원 자료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·  INSIGHT 02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튜터 응대 vs 운영팀 응대 만족도 격차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서비스 내 응대 만족도 격차는 학부모 만족도와 재구매 의향에 비대칭으로 영향을 줍니다.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6576" cy="2697480"/>
          </a:xfrm>
          <a:prstGeom prst="rect">
            <a:avLst/>
          </a:prstGeom>
          <a:solidFill>
            <a:srgbClr val="A052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튜터 응대 (수업 품질 카테고리)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A052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 후기 비율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키워드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친절한 설명 · 학생 페이스 맞춤 · 학습 동기 부여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“My tutor actually understands what I'm struggling with and adjusts the pace. I look forward to the lessons.”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874520"/>
            <a:ext cx="36576" cy="2697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운영팀 응대 (운영 응대 카테고리)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 후기 비율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키워드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지연 · 시차 구간 응대 공백 · 다중 핸드오프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4023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“수업 품질은 만족하지만 매번 일정 조정할 때마다 답답해요. 학부모로서는 운영팀이 가장 자주 마주치는 접점이라…”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팀업그레이드코리아 운영팀 지원 자료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·  INSIGHT 03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재구매·이탈 분기점은 어디서 갈리는가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× outcome label 교차 분석 (가상). 이탈 의향 그룹과 재구매 의향 그룹은 카테고리별 부정률 패턴이 다릅니다.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28800"/>
          <a:ext cx="52120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852160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관찰된 분기 패턴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2103120"/>
            <a:ext cx="28346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2240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분기점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4963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응대(55%) + 학부모 커뮤니케이션(48%) 부정이 함께 누적될 때 이탈 의향이 가장 높음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5216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회복 가능 영역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3364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품질·튜터 매칭은 재구매 그룹과 이탈 그룹의 부정률 격차가 작음 (서비스 본질 자체는 강점)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52160" y="3977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조기 신호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52160" y="42336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학습관리·진도 피드백 부정(이탈 38% vs 재구매 14%)은 이탈로 가기 전 1차 신호로 추정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팀업그레이드코리아 운영팀 지원 자료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·  APPLICATION HYPOTHESIS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맥락 적용 가설 4가지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유튜브도사·타임투쇼츠 워크플로 경험을 한국교육파트너스 운영 맥락에 옮기면 어떤 형태로 작동할 수 있는지 정리한 가설입니다.</a:t>
            </a:r>
            <a:endParaRPr lang="en-US" sz="1100" dirty="0"/>
          </a:p>
        </p:txBody>
      </p:sp>
      <p:sp>
        <p:nvSpPr>
          <p:cNvPr id="100" name="Card 1 BG"/>
          <p:cNvSpPr/>
          <p:nvPr/>
        </p:nvSpPr>
        <p:spPr>
          <a:xfrm>
            <a:off x="457200" y="1691640"/>
            <a:ext cx="640080" cy="640000"/>
          </a:xfrm>
          <a:prstGeom prst="rect">
            <a:avLst/>
          </a:prstGeom>
          <a:solidFill>
            <a:srgbClr val="0B1929"/>
          </a:solidFill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sp>
        <p:nvSpPr>
          <p:cNvPr id="101" name="Card 1 Label"/>
          <p:cNvSpPr/>
          <p:nvPr/>
        </p:nvSpPr>
        <p:spPr>
          <a:xfrm>
            <a:off x="457200" y="1691640"/>
            <a:ext cx="64008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H1</a:t>
            </a:r>
            <a:endParaRPr lang="en-US" sz="3200" dirty="0"/>
          </a:p>
        </p:txBody>
      </p:sp>
      <p:sp>
        <p:nvSpPr>
          <p:cNvPr id="102" name="Card 1 Right"/>
          <p:cNvSpPr/>
          <p:nvPr/>
        </p:nvSpPr>
        <p:spPr>
          <a:xfrm>
            <a:off x="1097280" y="1691640"/>
            <a:ext cx="7589520" cy="640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sp>
        <p:nvSpPr>
          <p:cNvPr id="103" name="Card 1 Title"/>
          <p:cNvSpPr/>
          <p:nvPr/>
        </p:nvSpPr>
        <p:spPr>
          <a:xfrm>
            <a:off x="1280160" y="1737360"/>
            <a:ext cx="722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학부모·학생 문의 자동 분류</a:t>
            </a:r>
            <a:endParaRPr lang="en-US" sz="1500" dirty="0"/>
          </a:p>
        </p:txBody>
      </p:sp>
      <p:sp>
        <p:nvSpPr>
          <p:cNvPr id="104" name="Card 1 Desc"/>
          <p:cNvSpPr/>
          <p:nvPr/>
        </p:nvSpPr>
        <p:spPr>
          <a:xfrm>
            <a:off x="1280160" y="2012360"/>
            <a:ext cx="7220000" cy="3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내용을 수업 일정 / 결제 / 컨설턴트 / 학습 피드백 / 진로 상담 등으로 LLM 1차 분류. 반복 이슈를 주간 리포트화해 패턴 파악과 우선순위 대응 지원.</a:t>
            </a:r>
            <a:endParaRPr lang="en-US" sz="900" dirty="0"/>
          </a:p>
        </p:txBody>
      </p:sp>
      <p:sp>
        <p:nvSpPr>
          <p:cNvPr id="110" name="Card 2 BG"/>
          <p:cNvSpPr/>
          <p:nvPr/>
        </p:nvSpPr>
        <p:spPr>
          <a:xfrm>
            <a:off x="457200" y="2407947"/>
            <a:ext cx="640080" cy="640000"/>
          </a:xfrm>
          <a:prstGeom prst="rect">
            <a:avLst/>
          </a:prstGeom>
          <a:solidFill>
            <a:srgbClr val="0B1929"/>
          </a:solidFill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sp>
        <p:nvSpPr>
          <p:cNvPr id="111" name="Card 2 Label"/>
          <p:cNvSpPr/>
          <p:nvPr/>
        </p:nvSpPr>
        <p:spPr>
          <a:xfrm>
            <a:off x="457200" y="2407947"/>
            <a:ext cx="64008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H2</a:t>
            </a:r>
            <a:endParaRPr lang="en-US" sz="3200" dirty="0"/>
          </a:p>
        </p:txBody>
      </p:sp>
      <p:sp>
        <p:nvSpPr>
          <p:cNvPr id="112" name="Card 2 Right"/>
          <p:cNvSpPr/>
          <p:nvPr/>
        </p:nvSpPr>
        <p:spPr>
          <a:xfrm>
            <a:off x="1097280" y="2407947"/>
            <a:ext cx="7589520" cy="640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sp>
        <p:nvSpPr>
          <p:cNvPr id="113" name="Card 2 Title"/>
          <p:cNvSpPr/>
          <p:nvPr/>
        </p:nvSpPr>
        <p:spPr>
          <a:xfrm>
            <a:off x="1280160" y="2453667"/>
            <a:ext cx="722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기록 → 후속 조치 체크리스트</a:t>
            </a:r>
            <a:endParaRPr lang="en-US" sz="1500" dirty="0"/>
          </a:p>
        </p:txBody>
      </p:sp>
      <p:sp>
        <p:nvSpPr>
          <p:cNvPr id="114" name="Card 2 Desc"/>
          <p:cNvSpPr/>
          <p:nvPr/>
        </p:nvSpPr>
        <p:spPr>
          <a:xfrm>
            <a:off x="1280160" y="2728667"/>
            <a:ext cx="7220000" cy="3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메모 → 학생별 액션 아이템 변환. 다음 연락 시점·담당 컨설턴트·확인 사항을 자동 정리해 후속 조치 누락을 줄임.</a:t>
            </a:r>
            <a:endParaRPr lang="en-US" sz="900" dirty="0"/>
          </a:p>
        </p:txBody>
      </p:sp>
      <p:sp>
        <p:nvSpPr>
          <p:cNvPr id="120" name="Card 3 BG"/>
          <p:cNvSpPr/>
          <p:nvPr/>
        </p:nvSpPr>
        <p:spPr>
          <a:xfrm>
            <a:off x="457200" y="3124254"/>
            <a:ext cx="640080" cy="640000"/>
          </a:xfrm>
          <a:prstGeom prst="rect">
            <a:avLst/>
          </a:prstGeom>
          <a:solidFill>
            <a:srgbClr val="0B1929"/>
          </a:solidFill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sp>
        <p:nvSpPr>
          <p:cNvPr id="121" name="Card 3 Label"/>
          <p:cNvSpPr/>
          <p:nvPr/>
        </p:nvSpPr>
        <p:spPr>
          <a:xfrm>
            <a:off x="457200" y="3124254"/>
            <a:ext cx="64008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H3</a:t>
            </a:r>
            <a:endParaRPr lang="en-US" sz="3200" dirty="0"/>
          </a:p>
        </p:txBody>
      </p:sp>
      <p:sp>
        <p:nvSpPr>
          <p:cNvPr id="122" name="Card 3 Right"/>
          <p:cNvSpPr/>
          <p:nvPr/>
        </p:nvSpPr>
        <p:spPr>
          <a:xfrm>
            <a:off x="1097280" y="3124254"/>
            <a:ext cx="7589520" cy="640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sp>
        <p:nvSpPr>
          <p:cNvPr id="123" name="Card 3 Title"/>
          <p:cNvSpPr/>
          <p:nvPr/>
        </p:nvSpPr>
        <p:spPr>
          <a:xfrm>
            <a:off x="1280160" y="3169974"/>
            <a:ext cx="722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컨설턴트 피드백 구조화</a:t>
            </a:r>
            <a:endParaRPr lang="en-US" sz="1500" dirty="0"/>
          </a:p>
        </p:txBody>
      </p:sp>
      <p:sp>
        <p:nvSpPr>
          <p:cNvPr id="124" name="Card 3 Desc"/>
          <p:cNvSpPr/>
          <p:nvPr/>
        </p:nvSpPr>
        <p:spPr>
          <a:xfrm>
            <a:off x="1280160" y="3444974"/>
            <a:ext cx="7220000" cy="3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모니터링 기록·메모를 컨설턴트별 개선 포인트로 누적 관리. 운영 품질 이슈를 흐름이 아니라 누적 데이터로 추적.</a:t>
            </a:r>
            <a:endParaRPr lang="en-US" sz="900" dirty="0"/>
          </a:p>
        </p:txBody>
      </p:sp>
      <p:sp>
        <p:nvSpPr>
          <p:cNvPr id="130" name="Card 4 BG"/>
          <p:cNvSpPr/>
          <p:nvPr/>
        </p:nvSpPr>
        <p:spPr>
          <a:xfrm>
            <a:off x="457200" y="3840561"/>
            <a:ext cx="640080" cy="640000"/>
          </a:xfrm>
          <a:prstGeom prst="rect">
            <a:avLst/>
          </a:prstGeom>
          <a:solidFill>
            <a:srgbClr val="0B1929"/>
          </a:solidFill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sp>
        <p:nvSpPr>
          <p:cNvPr id="131" name="Card 4 Label"/>
          <p:cNvSpPr/>
          <p:nvPr/>
        </p:nvSpPr>
        <p:spPr>
          <a:xfrm>
            <a:off x="457200" y="3840561"/>
            <a:ext cx="64008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H4</a:t>
            </a:r>
            <a:endParaRPr lang="en-US" sz="3200" dirty="0"/>
          </a:p>
        </p:txBody>
      </p:sp>
      <p:sp>
        <p:nvSpPr>
          <p:cNvPr id="132" name="Card 4 Right"/>
          <p:cNvSpPr/>
          <p:nvPr/>
        </p:nvSpPr>
        <p:spPr>
          <a:xfrm>
            <a:off x="1097280" y="3840561"/>
            <a:ext cx="7589520" cy="640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sp>
        <p:nvSpPr>
          <p:cNvPr id="133" name="Card 4 Title"/>
          <p:cNvSpPr/>
          <p:nvPr/>
        </p:nvSpPr>
        <p:spPr>
          <a:xfrm>
            <a:off x="1280160" y="3886281"/>
            <a:ext cx="722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입시 콘텐츠 재가공 (협업 접점)</a:t>
            </a:r>
            <a:endParaRPr lang="en-US" sz="1500" dirty="0"/>
          </a:p>
        </p:txBody>
      </p:sp>
      <p:sp>
        <p:nvSpPr>
          <p:cNvPr id="134" name="Card 4 Desc"/>
          <p:cNvSpPr/>
          <p:nvPr/>
        </p:nvSpPr>
        <p:spPr>
          <a:xfrm>
            <a:off x="1280160" y="4161281"/>
            <a:ext cx="7220000" cy="3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마케팅 팀과의 협업 접점 가설. 긴 입시 설명을 학부모용 FAQ · 카드뉴스 · 숏폼 대본으로 LLM 초안 생성 후 사람이 검수하는 흐름.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525000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55000"/>
            <a:ext cx="82296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전제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AI 결과물은 운영자가 최종 확인하는 보조 도구로 사용하며, 입사 후 실제 운영 데이터와 결합해 우선순위·실행 가능성을 검증하는 단계가 필요합니다.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한국교육파트너스 교육 운영 매니저 지원 · 윤상훈 · 2026.04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·  VERIFICATION KPI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지표 제안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“예상 효과”를 단정하지 않고, 운영 가설이 작동했는지 사후 측정 가능한 지표 형태로 정리합니다.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97480" cy="36576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운영 응대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응답 시간 중앙값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24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접수 → 1차 응답까지 시간 중앙값 (시차 구간별 분리 측정)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이슈 핸드오프 횟수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이슈가 종결되기까지 거친 담당자 수의 평균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응대 만족도 (5점)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361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종결 직후 학부모/학생 5점 척도 회수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23260" y="1828800"/>
            <a:ext cx="2697480" cy="36576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336042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학부모 커뮤니케이션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898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리포트 발송률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8980" y="2624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학생 수 대비 주간 리포트가 학부모에게 도달한 비율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8980" y="32004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체크인 응답률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68980" y="34930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학부모 체크인(콜/비동기 리포트) 제안 → 실제 응답으로 이어진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68980" y="4069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학부모 만족도 NPS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68980" y="4361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1회 학부모 NPS · 카테고리별 분리 추적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1828800"/>
            <a:ext cx="2697480" cy="36576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학습관리·피드백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후 보이스 메모 도달률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2624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종료 후 24시간 내 학생/학부모에게 도달한 비율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32004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진도 보드 업데이트 주기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4930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학생별 진도 보드가 마지막으로 업데이트된 평균 시간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0" y="4069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재구매 의향 분기 시점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4361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학생별 재구매 의향이 변동한 시점과 카테고리 부정 발생 시점의 시차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팀업그레이드코리아 운영팀 지원 자료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·  LIMITATIONS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분석의 한계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실제 데이터와 결합하기 전, 본 보고서가 갖는 한계를 별도 슬라이드로 명시합니다.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데이터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100건의 VOC와 분포·키워드는 모두 가상으로 생성한 데이터입니다. 실제 업그레이드캠퍼스 학생/학부모 VOC는 반영되어 있지 않습니다.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A052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보완 방향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실제 VOC 풀과 결합 시, 카테고리 정의와 분포는 재검증이 필요합니다.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1828800"/>
            <a:ext cx="36576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874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874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편향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1945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VOC가 작성되는 시점·채널 자체에 편향이 존재합니다. 만족 영역의 침묵, 불만 영역의 과대표현 가능성을 본 분석은 보정하지 못했습니다.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2788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A052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보완 방향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만족도 설문을 능동적으로 회수해 침묵 영역의 가시화가 동반되어야 합니다.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6576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337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시점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 가정 단일 시점 분석으로, 시즌성·학년별 흐름·시험 시즌 영향 등 시계열 변동은 다루지 못했습니다.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A052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보완 방향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운영에서는 학기 시작·중간·종료 시점별 VOC 패턴 변동을 별도 추적해야 합니다.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3291840"/>
            <a:ext cx="36576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337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분류 오차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657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분류 일치율 87%는 13% 오차를 의미합니다. 카테고리 경계가 모호한 VOC, 다중 카테고리 언급 VOC는 수동 보정이 필요합니다.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4251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A052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보완 방향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검증 표본을 점진적으로 확대해 분류 기준 자체를 정교화해야 합니다.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팀업그레이드코리아 운영팀 지원 자료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8A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 ·  CREATED FOR TEAM UPGRADE APPLICATION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6350">
            <a:solidFill>
              <a:srgbClr val="3044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보고서가 시연하려 한 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0"/>
          </a:xfrm>
          <a:prstGeom prst="line">
            <a:avLst/>
          </a:prstGeom>
          <a:noFill/>
          <a:ln w="25400">
            <a:solidFill>
              <a:srgbClr val="A05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8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정성·정량 자료를 의사결정자가 짧은 시간에 핵심을 파악할 수 있는 형태로 재구성하는 일을 7년간 반복해 왔습니다.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8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산업과 맥락은 달라졌지만, 작업의 본질은 같았습니다. 본 보고서는 그 작업 흐름을 업그레이드캠퍼스 운영 환경에 옮겨 시연한 결과물입니다.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7년 흐름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52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2014–2017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한화오션 특수선무장설계팀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C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기관 보고용 PPT/HWP 자료 설계·취합·작성 (3년 4개월)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61360" y="342900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52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2022–현재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61360" y="37033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대치동 정시 컨설팅 (4년+)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1360" y="406908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C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100+/시즌 정성·정량 시트 운용 + 학생·학부모 대면 응대 사이클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65520" y="342900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52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65520" y="37033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팀업그레이드코리아 운영팀 지원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65520" y="406908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C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VOC·재구매율·만족도 데이터 기반 운영 개선 + 빡센 관리 시스템 실행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044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  ·  2026.04  ·  팀업그레이드코리아 운영팀 지원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가상 업그레이드캠퍼스 VOC 100건 운영 분석</dc:title>
  <dc:subject>팀업그레이드 운영팀 지원 자료</dc:subject>
  <dc:creator>Sanghoon Yoon</dc:creator>
  <cp:lastModifiedBy>Sanghoon Yoon</cp:lastModifiedBy>
  <cp:revision>1</cp:revision>
  <dcterms:created xsi:type="dcterms:W3CDTF">2026-04-27T22:25:33Z</dcterms:created>
  <dcterms:modified xsi:type="dcterms:W3CDTF">2026-04-27T22:25:33Z</dcterms:modified>
</cp:coreProperties>
</file>